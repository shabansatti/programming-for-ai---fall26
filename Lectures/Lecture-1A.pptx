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9" r:id="rId3"/>
    <p:sldId id="275" r:id="rId4"/>
    <p:sldId id="276" r:id="rId5"/>
    <p:sldId id="360" r:id="rId6"/>
    <p:sldId id="260" r:id="rId7"/>
    <p:sldId id="257" r:id="rId8"/>
    <p:sldId id="315" r:id="rId9"/>
    <p:sldId id="362" r:id="rId10"/>
    <p:sldId id="372" r:id="rId11"/>
    <p:sldId id="363" r:id="rId12"/>
    <p:sldId id="365" r:id="rId13"/>
    <p:sldId id="366" r:id="rId14"/>
    <p:sldId id="367" r:id="rId15"/>
    <p:sldId id="368" r:id="rId16"/>
    <p:sldId id="369" r:id="rId17"/>
    <p:sldId id="361" r:id="rId18"/>
    <p:sldId id="373" r:id="rId19"/>
    <p:sldId id="316" r:id="rId20"/>
    <p:sldId id="374" r:id="rId21"/>
    <p:sldId id="370" r:id="rId22"/>
    <p:sldId id="375" r:id="rId23"/>
    <p:sldId id="371" r:id="rId24"/>
    <p:sldId id="274" r:id="rId2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81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17075" y="333678"/>
            <a:ext cx="228727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9353550"/>
            <a:ext cx="8684895" cy="269240"/>
          </a:xfrm>
          <a:custGeom>
            <a:avLst/>
            <a:gdLst/>
            <a:ahLst/>
            <a:cxnLst/>
            <a:rect l="l" t="t" r="r" b="b"/>
            <a:pathLst>
              <a:path w="8684895" h="269240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597495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572243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7110099" y="9344025"/>
            <a:ext cx="1177925" cy="278765"/>
          </a:xfrm>
          <a:custGeom>
            <a:avLst/>
            <a:gdLst/>
            <a:ahLst/>
            <a:cxnLst/>
            <a:rect l="l" t="t" r="r" b="b"/>
            <a:pathLst>
              <a:path w="1177925" h="27876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5513" y="295405"/>
            <a:ext cx="805814" cy="636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5508" y="1761127"/>
            <a:ext cx="7750175" cy="6664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17075" y="4665290"/>
            <a:ext cx="6483405" cy="264752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 marR="5080">
              <a:lnSpc>
                <a:spcPts val="9340"/>
              </a:lnSpc>
              <a:spcBef>
                <a:spcPts val="1045"/>
              </a:spcBef>
            </a:pPr>
            <a:r>
              <a:rPr lang="en-US" sz="8500" b="1" spc="-335" dirty="0">
                <a:latin typeface="Lucida Sans"/>
                <a:cs typeface="Lucida Sans"/>
              </a:rPr>
              <a:t>Lecture-1</a:t>
            </a:r>
          </a:p>
          <a:p>
            <a:pPr marL="12700" marR="5080">
              <a:lnSpc>
                <a:spcPts val="9340"/>
              </a:lnSpc>
              <a:spcBef>
                <a:spcPts val="1045"/>
              </a:spcBef>
            </a:pPr>
            <a:r>
              <a:rPr lang="en-US" sz="8500" b="1" spc="-335" dirty="0">
                <a:latin typeface="Lucida Sans"/>
                <a:cs typeface="Lucida Sans"/>
              </a:rPr>
              <a:t>Introduction</a:t>
            </a:r>
            <a:endParaRPr sz="8500" dirty="0">
              <a:latin typeface="Lucida Sans"/>
              <a:cs typeface="Lucida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9353550"/>
            <a:ext cx="8684895" cy="269240"/>
          </a:xfrm>
          <a:custGeom>
            <a:avLst/>
            <a:gdLst/>
            <a:ahLst/>
            <a:cxnLst/>
            <a:rect l="l" t="t" r="r" b="b"/>
            <a:pathLst>
              <a:path w="8684895" h="269240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597495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72243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10099" y="9344025"/>
            <a:ext cx="1177925" cy="278765"/>
          </a:xfrm>
          <a:custGeom>
            <a:avLst/>
            <a:gdLst/>
            <a:ahLst/>
            <a:cxnLst/>
            <a:rect l="l" t="t" r="r" b="b"/>
            <a:pathLst>
              <a:path w="1177925" h="27876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/>
          </p:nvPr>
        </p:nvSpPr>
        <p:spPr>
          <a:xfrm>
            <a:off x="9617074" y="333678"/>
            <a:ext cx="364172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  <a:endParaRPr sz="2000" dirty="0">
              <a:latin typeface="Century"/>
              <a:cs typeface="Centur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00480" y="333863"/>
            <a:ext cx="15779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sz="2000" dirty="0">
              <a:latin typeface="Century"/>
              <a:cs typeface="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B286A-58DB-5533-9E56-656687D34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E93EBD-C8DD-5623-647A-B4B06AC6A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5508" y="1333500"/>
            <a:ext cx="16315692" cy="463998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266065" algn="just">
              <a:lnSpc>
                <a:spcPct val="150000"/>
              </a:lnSpc>
              <a:spcBef>
                <a:spcPts val="1900"/>
              </a:spcBef>
              <a:tabLst>
                <a:tab pos="227329" algn="l"/>
              </a:tabLst>
            </a:pPr>
            <a:r>
              <a:rPr lang="en-US" sz="4400" b="1" u="sng" spc="505" dirty="0">
                <a:latin typeface="+mn-lt"/>
              </a:rPr>
              <a:t>Instructions</a:t>
            </a:r>
            <a:endParaRPr lang="en-US" sz="4400" b="1" u="sng" spc="-10" dirty="0">
              <a:latin typeface="+mn-lt"/>
            </a:endParaRP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Please join </a:t>
            </a:r>
            <a:r>
              <a:rPr lang="en-US" sz="4000" b="1" i="1" u="sng" dirty="0">
                <a:latin typeface="+mn-lt"/>
                <a:cs typeface="Century"/>
              </a:rPr>
              <a:t>Google Classroom</a:t>
            </a:r>
            <a:r>
              <a:rPr lang="en-US" sz="4000" b="1" dirty="0">
                <a:latin typeface="+mn-lt"/>
                <a:cs typeface="Century"/>
              </a:rPr>
              <a:t> </a:t>
            </a:r>
            <a:r>
              <a:rPr lang="en-US" sz="4000" dirty="0">
                <a:latin typeface="+mn-lt"/>
                <a:cs typeface="Century"/>
              </a:rPr>
              <a:t>to get updates.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In case of any query, contact me on my email. (</a:t>
            </a:r>
            <a:r>
              <a:rPr lang="en-US" sz="4000" b="1" i="1" u="sng" dirty="0">
                <a:latin typeface="+mn-lt"/>
                <a:cs typeface="Century"/>
              </a:rPr>
              <a:t>ishabansatti@gmail.com</a:t>
            </a:r>
            <a:r>
              <a:rPr lang="en-US" sz="4000" dirty="0">
                <a:latin typeface="+mn-lt"/>
                <a:cs typeface="Century"/>
              </a:rPr>
              <a:t>)</a:t>
            </a:r>
          </a:p>
          <a:p>
            <a:pPr marL="224790" marR="5080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</a:rPr>
              <a:t>Office: New Computer Lab (Mon to Thu: 10 AM to 1 PM)</a:t>
            </a:r>
          </a:p>
          <a:p>
            <a:pPr marL="12065" marR="5080">
              <a:lnSpc>
                <a:spcPct val="107800"/>
              </a:lnSpc>
              <a:spcBef>
                <a:spcPts val="500"/>
              </a:spcBef>
              <a:tabLst>
                <a:tab pos="227329" algn="l"/>
              </a:tabLst>
            </a:pPr>
            <a:endParaRPr sz="2000" dirty="0">
              <a:latin typeface="+mn-lt"/>
              <a:cs typeface="Century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495E98E-6D88-46A0-B4AD-AC03A4BD05B4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8B409D8-164E-B57B-E04E-A175196A6461}"/>
              </a:ext>
            </a:extLst>
          </p:cNvPr>
          <p:cNvSpPr txBox="1"/>
          <p:nvPr/>
        </p:nvSpPr>
        <p:spPr>
          <a:xfrm>
            <a:off x="9617075" y="333678"/>
            <a:ext cx="34131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  <a:endParaRPr sz="2000" dirty="0">
              <a:latin typeface="Century"/>
              <a:cs typeface="Century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4CB8E33-8C0E-6412-4968-5356172BB96C}"/>
              </a:ext>
            </a:extLst>
          </p:cNvPr>
          <p:cNvSpPr txBox="1"/>
          <p:nvPr/>
        </p:nvSpPr>
        <p:spPr>
          <a:xfrm>
            <a:off x="16100480" y="333863"/>
            <a:ext cx="15779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97EF85-4630-81FF-7F5C-52A453171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931651"/>
            <a:ext cx="6096851" cy="27816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A5B2F9-2FB0-1543-41D6-CA8929D4FEB5}"/>
              </a:ext>
            </a:extLst>
          </p:cNvPr>
          <p:cNvSpPr txBox="1"/>
          <p:nvPr/>
        </p:nvSpPr>
        <p:spPr>
          <a:xfrm>
            <a:off x="1600626" y="6912359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u="sng" dirty="0">
                <a:latin typeface="+mn-lt"/>
                <a:cs typeface="Century"/>
              </a:rPr>
              <a:t>Google Classroom Code</a:t>
            </a:r>
            <a:r>
              <a:rPr lang="en-US" sz="4000" b="1" dirty="0">
                <a:latin typeface="+mn-lt"/>
                <a:cs typeface="Century"/>
              </a:rPr>
              <a:t>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36970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55A28-C6DD-8909-B46D-9369859F2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CA86C4-4B98-0A3B-6975-C01C7A532B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71600" y="1686943"/>
            <a:ext cx="6638292" cy="3735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4400" b="1" u="sng" spc="505" dirty="0">
                <a:latin typeface="+mn-lt"/>
              </a:rPr>
              <a:t>Marks Breakup</a:t>
            </a:r>
            <a:endParaRPr sz="4400" b="1" u="sng" spc="-10" dirty="0">
              <a:latin typeface="+mn-lt"/>
            </a:endParaRPr>
          </a:p>
          <a:p>
            <a:pPr marL="224790" marR="266065" indent="-212725">
              <a:lnSpc>
                <a:spcPct val="150000"/>
              </a:lnSpc>
              <a:spcBef>
                <a:spcPts val="1900"/>
              </a:spcBef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Projects 		(30 = 3 X 10)</a:t>
            </a:r>
          </a:p>
          <a:p>
            <a:pPr marL="224790" marR="5080" indent="-212725">
              <a:lnSpc>
                <a:spcPct val="150000"/>
              </a:lnSpc>
              <a:spcBef>
                <a:spcPts val="500"/>
              </a:spcBef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Mid Exam 		(30)</a:t>
            </a:r>
          </a:p>
          <a:p>
            <a:pPr marL="224790" marR="5080" indent="-212725">
              <a:lnSpc>
                <a:spcPct val="150000"/>
              </a:lnSpc>
              <a:spcBef>
                <a:spcPts val="500"/>
              </a:spcBef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Final Exam 		(40)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1A22673-B915-D4E0-DC40-4799366467A5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CC161C6-151A-D376-ABF8-2A25A0DFC401}"/>
              </a:ext>
            </a:extLst>
          </p:cNvPr>
          <p:cNvSpPr txBox="1"/>
          <p:nvPr/>
        </p:nvSpPr>
        <p:spPr>
          <a:xfrm>
            <a:off x="9617075" y="333678"/>
            <a:ext cx="34131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  <a:endParaRPr sz="2000" dirty="0">
              <a:latin typeface="Century"/>
              <a:cs typeface="Century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2296C35-D2C8-BE3F-C238-1B1D10FBC86D}"/>
              </a:ext>
            </a:extLst>
          </p:cNvPr>
          <p:cNvSpPr txBox="1"/>
          <p:nvPr/>
        </p:nvSpPr>
        <p:spPr>
          <a:xfrm>
            <a:off x="16100480" y="333863"/>
            <a:ext cx="15779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DA62B920-9B23-19D3-C8BC-24E4B8561848}"/>
              </a:ext>
            </a:extLst>
          </p:cNvPr>
          <p:cNvSpPr txBox="1">
            <a:spLocks/>
          </p:cNvSpPr>
          <p:nvPr/>
        </p:nvSpPr>
        <p:spPr>
          <a:xfrm>
            <a:off x="9617075" y="1686943"/>
            <a:ext cx="8342312" cy="81462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 marL="0">
              <a:defRPr sz="5000" b="0" i="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marR="5080">
              <a:lnSpc>
                <a:spcPct val="107800"/>
              </a:lnSpc>
              <a:spcBef>
                <a:spcPts val="500"/>
              </a:spcBef>
              <a:tabLst>
                <a:tab pos="227329" algn="l"/>
              </a:tabLst>
            </a:pPr>
            <a:r>
              <a:rPr lang="en-US" sz="4400" b="1" u="sng" spc="505" dirty="0">
                <a:latin typeface="+mn-lt"/>
              </a:rPr>
              <a:t>Instructions 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You should have a GitHub account  to upload your project codes.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All projects will be followed by a relevant viva. 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Mid and Final Exams will be scenario based and may be open book subjected to approval.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endParaRPr lang="en-US" sz="2000" dirty="0">
              <a:latin typeface="Century"/>
              <a:cs typeface="Century"/>
            </a:endParaRPr>
          </a:p>
        </p:txBody>
      </p:sp>
    </p:spTree>
    <p:extLst>
      <p:ext uri="{BB962C8B-B14F-4D97-AF65-F5344CB8AC3E}">
        <p14:creationId xmlns:p14="http://schemas.microsoft.com/office/powerpoint/2010/main" val="1731393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1BC6B-F20D-EE9D-22CB-E09907E36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9E1AD44-CF8C-9361-F730-72B62397B421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BA94B5A-1975-4FFA-FCF4-71F29F6475BB}"/>
              </a:ext>
            </a:extLst>
          </p:cNvPr>
          <p:cNvSpPr txBox="1"/>
          <p:nvPr/>
        </p:nvSpPr>
        <p:spPr>
          <a:xfrm>
            <a:off x="9617075" y="333678"/>
            <a:ext cx="34131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  <a:endParaRPr sz="2000" dirty="0">
              <a:latin typeface="Century"/>
              <a:cs typeface="Century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FD6C4EF-C9BF-B54B-9F05-A1DBA9A0D540}"/>
              </a:ext>
            </a:extLst>
          </p:cNvPr>
          <p:cNvSpPr txBox="1"/>
          <p:nvPr/>
        </p:nvSpPr>
        <p:spPr>
          <a:xfrm>
            <a:off x="16100480" y="333863"/>
            <a:ext cx="15779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90F452E6-97EC-552B-AD12-24E2A8533553}"/>
              </a:ext>
            </a:extLst>
          </p:cNvPr>
          <p:cNvSpPr txBox="1">
            <a:spLocks/>
          </p:cNvSpPr>
          <p:nvPr/>
        </p:nvSpPr>
        <p:spPr>
          <a:xfrm>
            <a:off x="685800" y="1485900"/>
            <a:ext cx="14782800" cy="2162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 marL="0">
              <a:defRPr sz="5000" b="0" i="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marR="5080">
              <a:lnSpc>
                <a:spcPct val="150000"/>
              </a:lnSpc>
              <a:spcBef>
                <a:spcPts val="500"/>
              </a:spcBef>
              <a:tabLst>
                <a:tab pos="227329" algn="l"/>
              </a:tabLst>
            </a:pPr>
            <a:r>
              <a:rPr lang="en-US" sz="4400" b="1" u="sng" spc="505" dirty="0">
                <a:latin typeface="+mn-lt"/>
              </a:rPr>
              <a:t>Projects Details</a:t>
            </a:r>
          </a:p>
          <a:p>
            <a:pPr marL="12065" marR="26606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tabLst>
                <a:tab pos="227329" algn="l"/>
              </a:tabLst>
            </a:pPr>
            <a:endParaRPr lang="en-US" sz="4000" b="1" u="sng" dirty="0">
              <a:latin typeface="+mn-lt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9F4987E-5B3A-BE5A-8B38-5A7F52E00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656613"/>
              </p:ext>
            </p:extLst>
          </p:nvPr>
        </p:nvGraphicFramePr>
        <p:xfrm>
          <a:off x="1095766" y="2611754"/>
          <a:ext cx="16201632" cy="5960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1654">
                  <a:extLst>
                    <a:ext uri="{9D8B030D-6E8A-4147-A177-3AD203B41FA5}">
                      <a16:colId xmlns:a16="http://schemas.microsoft.com/office/drawing/2014/main" val="1396808349"/>
                    </a:ext>
                  </a:extLst>
                </a:gridCol>
                <a:gridCol w="11386180">
                  <a:extLst>
                    <a:ext uri="{9D8B030D-6E8A-4147-A177-3AD203B41FA5}">
                      <a16:colId xmlns:a16="http://schemas.microsoft.com/office/drawing/2014/main" val="3768173636"/>
                    </a:ext>
                  </a:extLst>
                </a:gridCol>
                <a:gridCol w="1972247">
                  <a:extLst>
                    <a:ext uri="{9D8B030D-6E8A-4147-A177-3AD203B41FA5}">
                      <a16:colId xmlns:a16="http://schemas.microsoft.com/office/drawing/2014/main" val="4165014899"/>
                    </a:ext>
                  </a:extLst>
                </a:gridCol>
                <a:gridCol w="1761551">
                  <a:extLst>
                    <a:ext uri="{9D8B030D-6E8A-4147-A177-3AD203B41FA5}">
                      <a16:colId xmlns:a16="http://schemas.microsoft.com/office/drawing/2014/main" val="3543551341"/>
                    </a:ext>
                  </a:extLst>
                </a:gridCol>
              </a:tblGrid>
              <a:tr h="498160">
                <a:tc gridSpan="4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b="1" dirty="0">
                          <a:effectLst/>
                        </a:rPr>
                        <a:t>Projects</a:t>
                      </a:r>
                      <a:endParaRPr lang="en-PK" sz="2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8100" marB="38100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642125"/>
                  </a:ext>
                </a:extLst>
              </a:tr>
              <a:tr h="49816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b="1" dirty="0">
                          <a:effectLst/>
                        </a:rPr>
                        <a:t>#</a:t>
                      </a:r>
                      <a:endParaRPr lang="en-PK" sz="2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b="1" dirty="0">
                          <a:effectLst/>
                        </a:rPr>
                        <a:t>Project</a:t>
                      </a:r>
                      <a:endParaRPr lang="en-PK" sz="2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2400" b="1" dirty="0">
                          <a:effectLst/>
                        </a:rPr>
                        <a:t>Due</a:t>
                      </a:r>
                      <a:endParaRPr lang="en-PK" sz="2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b="1" dirty="0">
                          <a:effectLst/>
                        </a:rPr>
                        <a:t>Marks</a:t>
                      </a:r>
                      <a:endParaRPr lang="en-PK" sz="2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298065401"/>
                  </a:ext>
                </a:extLst>
              </a:tr>
              <a:tr h="176360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>
                          <a:effectLst/>
                        </a:rPr>
                        <a:t>1</a:t>
                      </a:r>
                      <a:endParaRPr lang="en-PK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PK" sz="2400" b="1" dirty="0">
                          <a:effectLst/>
                        </a:rPr>
                        <a:t>ETL + EDA Pipeline</a:t>
                      </a:r>
                    </a:p>
                    <a:p>
                      <a:pPr algn="jus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PK" sz="2400" dirty="0">
                          <a:effectLst/>
                        </a:rPr>
                        <a:t>Build an ETL pipeline that extracts data from an API, transforms/validates it with pandas and </a:t>
                      </a:r>
                      <a:r>
                        <a:rPr lang="en-PK" sz="2400" dirty="0" err="1">
                          <a:effectLst/>
                        </a:rPr>
                        <a:t>Pydantic</a:t>
                      </a:r>
                      <a:r>
                        <a:rPr lang="en-PK" sz="2400" dirty="0">
                          <a:effectLst/>
                        </a:rPr>
                        <a:t>, loads it to a database, and conduct a structured exploratory data analysis on the result.</a:t>
                      </a:r>
                      <a:endParaRPr lang="en-PK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dirty="0">
                          <a:effectLst/>
                        </a:rPr>
                        <a:t>Week </a:t>
                      </a:r>
                      <a:r>
                        <a:rPr lang="en-US" sz="2400" dirty="0">
                          <a:effectLst/>
                        </a:rPr>
                        <a:t>7</a:t>
                      </a:r>
                      <a:endParaRPr lang="en-PK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>
                          <a:effectLst/>
                        </a:rPr>
                        <a:t>10</a:t>
                      </a:r>
                      <a:endParaRPr lang="en-PK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93500917"/>
                  </a:ext>
                </a:extLst>
              </a:tr>
              <a:tr h="1351331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>
                          <a:effectLst/>
                        </a:rPr>
                        <a:t>2</a:t>
                      </a:r>
                      <a:endParaRPr lang="en-PK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PK" sz="2400" b="1" dirty="0">
                          <a:effectLst/>
                        </a:rPr>
                        <a:t>scikit-learn ML Pipeline</a:t>
                      </a:r>
                    </a:p>
                    <a:p>
                      <a:pPr algn="jus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PK" sz="2400" dirty="0">
                          <a:effectLst/>
                        </a:rPr>
                        <a:t>Build an end to end scikit-learn Pipeline combining preprocessing and a model, with cross-validated hyperparameter search, evaluated on a held-out test set.</a:t>
                      </a:r>
                      <a:endParaRPr lang="en-PK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dirty="0">
                          <a:effectLst/>
                        </a:rPr>
                        <a:t>Week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PK" sz="2400" dirty="0">
                          <a:effectLst/>
                        </a:rPr>
                        <a:t>1</a:t>
                      </a: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PK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>
                          <a:effectLst/>
                        </a:rPr>
                        <a:t>10</a:t>
                      </a:r>
                      <a:endParaRPr lang="en-PK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843678069"/>
                  </a:ext>
                </a:extLst>
              </a:tr>
              <a:tr h="1351331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>
                          <a:effectLst/>
                        </a:rPr>
                        <a:t>3</a:t>
                      </a:r>
                      <a:endParaRPr lang="en-PK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PK" sz="2400" b="1" dirty="0" err="1">
                          <a:effectLst/>
                        </a:rPr>
                        <a:t>PyTorch</a:t>
                      </a:r>
                      <a:r>
                        <a:rPr lang="en-PK" sz="2400" b="1" dirty="0">
                          <a:effectLst/>
                        </a:rPr>
                        <a:t> + </a:t>
                      </a:r>
                      <a:r>
                        <a:rPr lang="en-PK" sz="2400" b="1" dirty="0" err="1">
                          <a:effectLst/>
                        </a:rPr>
                        <a:t>MLflow</a:t>
                      </a:r>
                      <a:r>
                        <a:rPr lang="en-PK" sz="2400" b="1" dirty="0">
                          <a:effectLst/>
                        </a:rPr>
                        <a:t> </a:t>
                      </a:r>
                    </a:p>
                    <a:p>
                      <a:pPr algn="jus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PK" sz="2400" dirty="0">
                          <a:effectLst/>
                        </a:rPr>
                        <a:t>Train and tune a </a:t>
                      </a:r>
                      <a:r>
                        <a:rPr lang="en-PK" sz="2400" dirty="0" err="1">
                          <a:effectLst/>
                        </a:rPr>
                        <a:t>PyTorch</a:t>
                      </a:r>
                      <a:r>
                        <a:rPr lang="en-PK" sz="2400" dirty="0">
                          <a:effectLst/>
                        </a:rPr>
                        <a:t> model (using </a:t>
                      </a:r>
                      <a:r>
                        <a:rPr lang="en-PK" sz="2400" dirty="0" err="1">
                          <a:effectLst/>
                        </a:rPr>
                        <a:t>Optuna</a:t>
                      </a:r>
                      <a:r>
                        <a:rPr lang="en-PK" sz="2400" dirty="0">
                          <a:effectLst/>
                        </a:rPr>
                        <a:t>) and track all experiments, parameters, metrics, and the final model with </a:t>
                      </a:r>
                      <a:r>
                        <a:rPr lang="en-PK" sz="2400" dirty="0" err="1">
                          <a:effectLst/>
                        </a:rPr>
                        <a:t>MLflow</a:t>
                      </a:r>
                      <a:r>
                        <a:rPr lang="en-PK" sz="2400" dirty="0">
                          <a:effectLst/>
                        </a:rPr>
                        <a:t>.</a:t>
                      </a:r>
                      <a:endParaRPr lang="en-PK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dirty="0">
                          <a:effectLst/>
                        </a:rPr>
                        <a:t>Week 1</a:t>
                      </a:r>
                      <a:r>
                        <a:rPr lang="en-US" sz="2400" dirty="0">
                          <a:effectLst/>
                        </a:rPr>
                        <a:t>5</a:t>
                      </a:r>
                      <a:endParaRPr lang="en-PK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dirty="0">
                          <a:effectLst/>
                        </a:rPr>
                        <a:t>10</a:t>
                      </a:r>
                      <a:endParaRPr lang="en-PK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579731494"/>
                  </a:ext>
                </a:extLst>
              </a:tr>
              <a:tr h="498160">
                <a:tc gridSpan="3"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b="1" dirty="0">
                          <a:effectLst/>
                        </a:rPr>
                        <a:t>Total</a:t>
                      </a:r>
                      <a:endParaRPr lang="en-PK" sz="2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8100" marB="38100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b="1" dirty="0">
                          <a:effectLst/>
                        </a:rPr>
                        <a:t>30</a:t>
                      </a:r>
                      <a:endParaRPr lang="en-PK" sz="2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63850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18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2F792-9BF3-44C8-5C4E-6A790F201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169EC8C-79A2-F8F6-0E51-DD128B22FFBD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5045AA9-60DA-8AAF-9C69-05994AD55CB1}"/>
              </a:ext>
            </a:extLst>
          </p:cNvPr>
          <p:cNvSpPr txBox="1"/>
          <p:nvPr/>
        </p:nvSpPr>
        <p:spPr>
          <a:xfrm>
            <a:off x="9617075" y="333678"/>
            <a:ext cx="34131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  <a:endParaRPr sz="2000" dirty="0">
              <a:latin typeface="Century"/>
              <a:cs typeface="Century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403010A-A762-AE8D-2085-FF5E39849F70}"/>
              </a:ext>
            </a:extLst>
          </p:cNvPr>
          <p:cNvSpPr txBox="1"/>
          <p:nvPr/>
        </p:nvSpPr>
        <p:spPr>
          <a:xfrm>
            <a:off x="16100480" y="333863"/>
            <a:ext cx="15779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91B7D22-ABCF-E332-6EA0-5580DAC6442A}"/>
              </a:ext>
            </a:extLst>
          </p:cNvPr>
          <p:cNvSpPr txBox="1">
            <a:spLocks/>
          </p:cNvSpPr>
          <p:nvPr/>
        </p:nvSpPr>
        <p:spPr>
          <a:xfrm>
            <a:off x="685800" y="1485900"/>
            <a:ext cx="14782800" cy="770287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 marL="0">
              <a:defRPr sz="5000" b="0" i="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marR="5080">
              <a:lnSpc>
                <a:spcPct val="150000"/>
              </a:lnSpc>
              <a:spcBef>
                <a:spcPts val="500"/>
              </a:spcBef>
              <a:tabLst>
                <a:tab pos="227329" algn="l"/>
              </a:tabLst>
            </a:pPr>
            <a:r>
              <a:rPr lang="en-US" sz="4400" b="1" u="sng" spc="505" dirty="0">
                <a:latin typeface="+mn-lt"/>
              </a:rPr>
              <a:t>Tools Required for this course</a:t>
            </a:r>
          </a:p>
          <a:p>
            <a:pPr marL="224790" marR="266065" indent="-21272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 VS Code   </a:t>
            </a:r>
            <a:r>
              <a:rPr lang="en-US" sz="4000" b="1" u="sng" dirty="0">
                <a:latin typeface="+mn-lt"/>
                <a:cs typeface="Century"/>
              </a:rPr>
              <a:t>https://code.visualstudio.com/</a:t>
            </a:r>
          </a:p>
          <a:p>
            <a:pPr marL="224790" marR="266065" indent="-21272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</a:rPr>
              <a:t> Python </a:t>
            </a:r>
            <a:r>
              <a:rPr lang="en-US" sz="4000" b="1" u="sng" dirty="0">
                <a:latin typeface="+mn-lt"/>
              </a:rPr>
              <a:t>https://www.python.org/downloads/</a:t>
            </a:r>
          </a:p>
          <a:p>
            <a:pPr marL="224790" marR="266065" indent="-21272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 Docker </a:t>
            </a:r>
            <a:r>
              <a:rPr lang="en-US" sz="4000" b="1" u="sng" dirty="0">
                <a:latin typeface="+mn-lt"/>
                <a:cs typeface="Century"/>
              </a:rPr>
              <a:t>https://www.docker.com/</a:t>
            </a:r>
          </a:p>
          <a:p>
            <a:pPr marL="224790" marR="266065" indent="-21272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 GitHub Desktop </a:t>
            </a:r>
            <a:r>
              <a:rPr lang="en-US" sz="4000" b="1" u="sng" dirty="0">
                <a:latin typeface="+mn-lt"/>
                <a:cs typeface="Century"/>
                <a:hlinkClick r:id="rId2"/>
              </a:rPr>
              <a:t>https://github.com/</a:t>
            </a:r>
            <a:endParaRPr lang="en-US" sz="4000" b="1" u="sng" dirty="0">
              <a:latin typeface="+mn-lt"/>
              <a:cs typeface="Century"/>
            </a:endParaRPr>
          </a:p>
          <a:p>
            <a:pPr marL="224790" marR="266065" indent="-21272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</a:rPr>
              <a:t>Google </a:t>
            </a:r>
            <a:r>
              <a:rPr lang="en-US" sz="4000" dirty="0" err="1">
                <a:latin typeface="+mn-lt"/>
              </a:rPr>
              <a:t>Colab</a:t>
            </a:r>
            <a:r>
              <a:rPr lang="en-US" sz="4000" dirty="0">
                <a:latin typeface="+mn-lt"/>
              </a:rPr>
              <a:t> </a:t>
            </a:r>
            <a:r>
              <a:rPr lang="en-US" sz="4000" b="1" u="sng" dirty="0">
                <a:latin typeface="+mn-lt"/>
              </a:rPr>
              <a:t>https://colab.research.google.com/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B074A9-142B-918D-9412-1BD454D54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3009900"/>
            <a:ext cx="720000" cy="4984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F7282D-04AB-1783-E3E3-8AA99FA2C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200" y="4076700"/>
            <a:ext cx="762106" cy="8764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B784936-A0B1-CECC-D40E-C92C26C03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105" y="5829297"/>
            <a:ext cx="720000" cy="5298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37D92F2-99B4-C554-8E63-2F887B4D09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2172" y="7048500"/>
            <a:ext cx="648000" cy="591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B3442-9D58-900A-FEFC-B132055A93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34800" y="8523899"/>
            <a:ext cx="792000" cy="55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27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05513" y="7018409"/>
            <a:ext cx="4385945" cy="1319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0" b="1" spc="185" dirty="0">
                <a:latin typeface="Lucida Sans"/>
                <a:cs typeface="Lucida Sans"/>
              </a:rPr>
              <a:t>Agenda</a:t>
            </a:r>
            <a:endParaRPr sz="8500">
              <a:latin typeface="Lucida Sans"/>
              <a:cs typeface="Lucida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353550"/>
            <a:ext cx="8684895" cy="269240"/>
          </a:xfrm>
          <a:custGeom>
            <a:avLst/>
            <a:gdLst/>
            <a:ahLst/>
            <a:cxnLst/>
            <a:rect l="l" t="t" r="r" b="b"/>
            <a:pathLst>
              <a:path w="8684895" h="269240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597495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72243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10099" y="9344025"/>
            <a:ext cx="1177925" cy="278765"/>
          </a:xfrm>
          <a:custGeom>
            <a:avLst/>
            <a:gdLst/>
            <a:ahLst/>
            <a:cxnLst/>
            <a:rect l="l" t="t" r="r" b="b"/>
            <a:pathLst>
              <a:path w="1177925" h="27876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17075" y="333678"/>
            <a:ext cx="36417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100480" y="333863"/>
            <a:ext cx="15779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68185" y="1257300"/>
            <a:ext cx="4234180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dirty="0">
                <a:latin typeface="Century"/>
                <a:cs typeface="Century"/>
              </a:rPr>
              <a:t>Why Python?</a:t>
            </a:r>
            <a:endParaRPr sz="3200" dirty="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81714" y="2299499"/>
            <a:ext cx="5434005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dirty="0">
                <a:latin typeface="Century"/>
                <a:cs typeface="Century"/>
              </a:rPr>
              <a:t>Python’s Typing Paradigm</a:t>
            </a:r>
            <a:endParaRPr sz="2000" dirty="0">
              <a:latin typeface="Century"/>
              <a:cs typeface="Century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99300" y="3334579"/>
            <a:ext cx="7588700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spc="-30" dirty="0">
                <a:latin typeface="Century"/>
                <a:cs typeface="Century"/>
              </a:rPr>
              <a:t>Python Execution Engine and Interfaces</a:t>
            </a:r>
            <a:endParaRPr lang="en-US" sz="3200" dirty="0">
              <a:latin typeface="Century"/>
              <a:cs typeface="Century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99300" y="4382367"/>
            <a:ext cx="5416420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spc="-30" dirty="0">
                <a:latin typeface="Century"/>
                <a:cs typeface="Century"/>
              </a:rPr>
              <a:t>Variables</a:t>
            </a:r>
            <a:endParaRPr sz="3200" dirty="0">
              <a:latin typeface="Century"/>
              <a:cs typeface="Century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99300" y="5430245"/>
            <a:ext cx="4234180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spc="-65" dirty="0">
                <a:latin typeface="Century"/>
                <a:cs typeface="Century"/>
              </a:rPr>
              <a:t>Input &amp; Output</a:t>
            </a:r>
            <a:endParaRPr sz="3200" dirty="0">
              <a:latin typeface="Century"/>
              <a:cs typeface="Century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17075" y="1433630"/>
            <a:ext cx="541020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60" dirty="0">
                <a:solidFill>
                  <a:srgbClr val="2B57D9"/>
                </a:solidFill>
                <a:latin typeface="Century Gothic"/>
                <a:cs typeface="Century Gothic"/>
              </a:rPr>
              <a:t>01.</a:t>
            </a:r>
            <a:endParaRPr sz="3200" dirty="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614730" y="2456803"/>
            <a:ext cx="631825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00" spc="30" dirty="0">
                <a:solidFill>
                  <a:srgbClr val="2B57D9"/>
                </a:solidFill>
                <a:latin typeface="Century Gothic"/>
                <a:cs typeface="Century Gothic"/>
              </a:rPr>
              <a:t>02.</a:t>
            </a:r>
            <a:endParaRPr sz="33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32315" y="3493247"/>
            <a:ext cx="622300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03.</a:t>
            </a:r>
            <a:endParaRPr sz="33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32315" y="4542398"/>
            <a:ext cx="675640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00" spc="150" dirty="0">
                <a:solidFill>
                  <a:srgbClr val="2B57D9"/>
                </a:solidFill>
                <a:latin typeface="Century Gothic"/>
                <a:cs typeface="Century Gothic"/>
              </a:rPr>
              <a:t>04.</a:t>
            </a:r>
            <a:endParaRPr sz="33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32315" y="5590486"/>
            <a:ext cx="627380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05.</a:t>
            </a:r>
            <a:endParaRPr sz="3300">
              <a:latin typeface="Century Gothic"/>
              <a:cs typeface="Century Gothic"/>
            </a:endParaRPr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2F05598A-1F41-B771-915F-CE0FB634D9CF}"/>
              </a:ext>
            </a:extLst>
          </p:cNvPr>
          <p:cNvSpPr txBox="1"/>
          <p:nvPr/>
        </p:nvSpPr>
        <p:spPr>
          <a:xfrm>
            <a:off x="10681715" y="7499698"/>
            <a:ext cx="4234180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spc="-65" dirty="0">
                <a:latin typeface="Century"/>
                <a:cs typeface="Century"/>
              </a:rPr>
              <a:t>Arithmetic Operations </a:t>
            </a:r>
            <a:endParaRPr sz="3200" dirty="0">
              <a:latin typeface="Century"/>
              <a:cs typeface="Century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894DA593-F06F-009B-56CD-CF1E62E247E5}"/>
              </a:ext>
            </a:extLst>
          </p:cNvPr>
          <p:cNvSpPr txBox="1"/>
          <p:nvPr/>
        </p:nvSpPr>
        <p:spPr>
          <a:xfrm>
            <a:off x="9614730" y="7659939"/>
            <a:ext cx="627380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0</a:t>
            </a:r>
            <a:r>
              <a:rPr lang="en-US"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7</a:t>
            </a:r>
            <a:r>
              <a:rPr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.</a:t>
            </a:r>
            <a:endParaRPr sz="3300" dirty="0">
              <a:latin typeface="Century Gothic"/>
              <a:cs typeface="Century Gothic"/>
            </a:endParaRPr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1C7A4E7A-50D9-5885-BC40-9A7AB4D68FB0}"/>
              </a:ext>
            </a:extLst>
          </p:cNvPr>
          <p:cNvSpPr txBox="1"/>
          <p:nvPr/>
        </p:nvSpPr>
        <p:spPr>
          <a:xfrm>
            <a:off x="10681715" y="6460039"/>
            <a:ext cx="4234180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spc="-65" dirty="0">
                <a:latin typeface="Century"/>
                <a:cs typeface="Century"/>
              </a:rPr>
              <a:t>Type Conversion</a:t>
            </a:r>
            <a:endParaRPr sz="3200" dirty="0">
              <a:latin typeface="Century"/>
              <a:cs typeface="Century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A76E3FEE-C0D3-6DAB-22BB-BE24216622C3}"/>
              </a:ext>
            </a:extLst>
          </p:cNvPr>
          <p:cNvSpPr txBox="1"/>
          <p:nvPr/>
        </p:nvSpPr>
        <p:spPr>
          <a:xfrm>
            <a:off x="9614730" y="6620280"/>
            <a:ext cx="627380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0</a:t>
            </a:r>
            <a:r>
              <a:rPr lang="en-US"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6</a:t>
            </a:r>
            <a:r>
              <a:rPr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.</a:t>
            </a:r>
            <a:endParaRPr sz="33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17074" y="333678"/>
            <a:ext cx="348932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00480" y="333863"/>
            <a:ext cx="1730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29775" y="7043811"/>
            <a:ext cx="8124825" cy="1116267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44"/>
              </a:spcBef>
            </a:pPr>
            <a:r>
              <a:rPr lang="en-US" sz="9600" b="1" spc="655" dirty="0">
                <a:latin typeface="+mn-lt"/>
                <a:cs typeface="Century Gothic"/>
              </a:rPr>
              <a:t>Why Python?</a:t>
            </a:r>
            <a:endParaRPr sz="9600" b="1" dirty="0">
              <a:latin typeface="+mn-lt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9140" y="6778545"/>
            <a:ext cx="156210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620" dirty="0">
                <a:latin typeface="+mn-lt"/>
                <a:cs typeface="Century Gothic"/>
              </a:rPr>
              <a:t>01.</a:t>
            </a:r>
            <a:endParaRPr sz="10000" dirty="0">
              <a:latin typeface="+mn-lt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9353550"/>
            <a:ext cx="8678545" cy="269240"/>
          </a:xfrm>
          <a:custGeom>
            <a:avLst/>
            <a:gdLst/>
            <a:ahLst/>
            <a:cxnLst/>
            <a:rect l="l" t="t" r="r" b="b"/>
            <a:pathLst>
              <a:path w="8678545" h="269240">
                <a:moveTo>
                  <a:pt x="8678430" y="0"/>
                </a:moveTo>
                <a:lnTo>
                  <a:pt x="0" y="0"/>
                </a:lnTo>
                <a:lnTo>
                  <a:pt x="0" y="269163"/>
                </a:lnTo>
                <a:lnTo>
                  <a:pt x="8678430" y="269163"/>
                </a:lnTo>
                <a:lnTo>
                  <a:pt x="8678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591118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65881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103737" y="9344025"/>
            <a:ext cx="1184275" cy="278765"/>
          </a:xfrm>
          <a:custGeom>
            <a:avLst/>
            <a:gdLst/>
            <a:ahLst/>
            <a:cxnLst/>
            <a:rect l="l" t="t" r="r" b="b"/>
            <a:pathLst>
              <a:path w="1184275" h="278765">
                <a:moveTo>
                  <a:pt x="1184262" y="0"/>
                </a:moveTo>
                <a:lnTo>
                  <a:pt x="0" y="0"/>
                </a:lnTo>
                <a:lnTo>
                  <a:pt x="0" y="278688"/>
                </a:lnTo>
                <a:lnTo>
                  <a:pt x="1184262" y="278688"/>
                </a:lnTo>
                <a:lnTo>
                  <a:pt x="1184262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0B570-6429-13EC-CBA0-41C5DFFE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84F30D4-A573-4E12-9AED-67ADA0401C38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13B0738-40DB-6700-B105-4F86797E9C38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12260FA-C1B1-20BF-A1A7-9E87E58F4993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603EC08D-C7F0-26C8-DD81-7F3840A1CDE9}"/>
              </a:ext>
            </a:extLst>
          </p:cNvPr>
          <p:cNvSpPr txBox="1"/>
          <p:nvPr/>
        </p:nvSpPr>
        <p:spPr>
          <a:xfrm>
            <a:off x="914400" y="992541"/>
            <a:ext cx="16687800" cy="70686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4400" b="1" u="sng" dirty="0">
                <a:latin typeface="+mn-lt"/>
              </a:rPr>
              <a:t>Python</a:t>
            </a: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Default language for modern artificial intelligence and machine learning.</a:t>
            </a:r>
            <a:endParaRPr lang="en-US" sz="4000" dirty="0"/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00B0F0"/>
                </a:solidFill>
                <a:ea typeface="Calibri" pitchFamily="34" charset="-122"/>
                <a:cs typeface="Calibri" pitchFamily="34" charset="-120"/>
              </a:rPr>
              <a:t>High-level</a:t>
            </a: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, and readable syntax.</a:t>
            </a:r>
            <a:endParaRPr lang="en-US" sz="4000" dirty="0"/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It acts as a thin, expressive wrapper around low-level performance engines written in C, and CUDA.</a:t>
            </a:r>
            <a:endParaRPr lang="en-US" sz="4000" dirty="0"/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Libraries such as </a:t>
            </a:r>
            <a:r>
              <a:rPr lang="en-US" sz="4000" dirty="0" err="1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, NumPy, and Hugging Face Transformers expose Python APIs.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20999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855FA-5BBC-1280-50E9-F930AE236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C96D4D7-E99B-5D7C-B0F7-8987AE6FC4B0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85C9081-C58E-AD08-CFAF-71C82C097231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8218162-D807-0D43-D99B-23039AD6EC70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A5105089-5DA7-4C06-8016-685C240B118E}"/>
              </a:ext>
            </a:extLst>
          </p:cNvPr>
          <p:cNvSpPr txBox="1"/>
          <p:nvPr/>
        </p:nvSpPr>
        <p:spPr>
          <a:xfrm>
            <a:off x="914400" y="992541"/>
            <a:ext cx="16687800" cy="70686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4400" b="1" u="sng" dirty="0">
                <a:latin typeface="+mn-lt"/>
              </a:rPr>
              <a:t>Python</a:t>
            </a: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Enormous ecosystem: NumPy, pandas, </a:t>
            </a:r>
            <a:r>
              <a:rPr lang="en-US" sz="4000" dirty="0" err="1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, TensorFlow, scikit-learn, Hugging Face. </a:t>
            </a: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Rapid prototyping: dynamic typing and a </a:t>
            </a:r>
            <a:r>
              <a:rPr lang="en-US" sz="4000" dirty="0">
                <a:solidFill>
                  <a:srgbClr val="00B0F0"/>
                </a:solidFill>
                <a:ea typeface="Calibri" pitchFamily="34" charset="-122"/>
                <a:cs typeface="Calibri" pitchFamily="34" charset="-120"/>
              </a:rPr>
              <a:t>REPL</a:t>
            </a: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-friendly design.</a:t>
            </a: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Community and education: the largest base of tutorials and courses.</a:t>
            </a: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Interoperability: Python glues together C/C++ kernels, GPU drivers, distributed systems, and </a:t>
            </a:r>
            <a:r>
              <a:rPr lang="en-US" sz="4000" dirty="0">
                <a:solidFill>
                  <a:srgbClr val="00B0F0"/>
                </a:solidFill>
                <a:ea typeface="Calibri" pitchFamily="34" charset="-122"/>
                <a:cs typeface="Calibri" pitchFamily="34" charset="-120"/>
              </a:rPr>
              <a:t>web APIs</a:t>
            </a: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 with minimal friction.</a:t>
            </a:r>
          </a:p>
        </p:txBody>
      </p:sp>
    </p:spTree>
    <p:extLst>
      <p:ext uri="{BB962C8B-B14F-4D97-AF65-F5344CB8AC3E}">
        <p14:creationId xmlns:p14="http://schemas.microsoft.com/office/powerpoint/2010/main" val="3121828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3C1C4-C325-63E7-916F-073DEBA34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F8138CE-90EF-9F87-58C2-273F78630699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FEA51BB-23D8-6FA8-F4D7-843132C75BF4}"/>
              </a:ext>
            </a:extLst>
          </p:cNvPr>
          <p:cNvSpPr txBox="1"/>
          <p:nvPr/>
        </p:nvSpPr>
        <p:spPr>
          <a:xfrm>
            <a:off x="9617074" y="333678"/>
            <a:ext cx="348932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325B1D3-29A7-911D-FD00-8CB1C0EB9B60}"/>
              </a:ext>
            </a:extLst>
          </p:cNvPr>
          <p:cNvSpPr txBox="1"/>
          <p:nvPr/>
        </p:nvSpPr>
        <p:spPr>
          <a:xfrm>
            <a:off x="16100480" y="333863"/>
            <a:ext cx="1730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AFCE40A-4294-5105-7EFB-CABF85238225}"/>
              </a:ext>
            </a:extLst>
          </p:cNvPr>
          <p:cNvSpPr txBox="1"/>
          <p:nvPr/>
        </p:nvSpPr>
        <p:spPr>
          <a:xfrm>
            <a:off x="7391401" y="7043811"/>
            <a:ext cx="10363200" cy="1116267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44"/>
              </a:spcBef>
            </a:pPr>
            <a:r>
              <a:rPr lang="en-US" sz="9600" b="1" spc="655" dirty="0">
                <a:latin typeface="+mn-lt"/>
                <a:cs typeface="Century Gothic"/>
              </a:rPr>
              <a:t>Typing Paradigms</a:t>
            </a:r>
            <a:endParaRPr sz="9600" b="1" dirty="0">
              <a:latin typeface="+mn-lt"/>
              <a:cs typeface="Century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CFFDE73-098D-7B50-C93E-AA6B98F3595D}"/>
              </a:ext>
            </a:extLst>
          </p:cNvPr>
          <p:cNvSpPr txBox="1"/>
          <p:nvPr/>
        </p:nvSpPr>
        <p:spPr>
          <a:xfrm>
            <a:off x="899140" y="6778545"/>
            <a:ext cx="156210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620" dirty="0">
                <a:latin typeface="+mn-lt"/>
                <a:cs typeface="Century Gothic"/>
              </a:rPr>
              <a:t>0</a:t>
            </a:r>
            <a:r>
              <a:rPr lang="en-US" sz="10000" spc="-620" dirty="0">
                <a:latin typeface="+mn-lt"/>
                <a:cs typeface="Century Gothic"/>
              </a:rPr>
              <a:t>2</a:t>
            </a:r>
            <a:r>
              <a:rPr sz="10000" spc="-620" dirty="0">
                <a:latin typeface="+mn-lt"/>
                <a:cs typeface="Century Gothic"/>
              </a:rPr>
              <a:t>.</a:t>
            </a:r>
            <a:endParaRPr sz="10000" dirty="0">
              <a:latin typeface="+mn-lt"/>
              <a:cs typeface="Century 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365D33F-C321-F28E-BCD8-68C63B85E2CF}"/>
              </a:ext>
            </a:extLst>
          </p:cNvPr>
          <p:cNvSpPr/>
          <p:nvPr/>
        </p:nvSpPr>
        <p:spPr>
          <a:xfrm>
            <a:off x="0" y="9353550"/>
            <a:ext cx="8678545" cy="269240"/>
          </a:xfrm>
          <a:custGeom>
            <a:avLst/>
            <a:gdLst/>
            <a:ahLst/>
            <a:cxnLst/>
            <a:rect l="l" t="t" r="r" b="b"/>
            <a:pathLst>
              <a:path w="8678545" h="269240">
                <a:moveTo>
                  <a:pt x="8678430" y="0"/>
                </a:moveTo>
                <a:lnTo>
                  <a:pt x="0" y="0"/>
                </a:lnTo>
                <a:lnTo>
                  <a:pt x="0" y="269163"/>
                </a:lnTo>
                <a:lnTo>
                  <a:pt x="8678430" y="269163"/>
                </a:lnTo>
                <a:lnTo>
                  <a:pt x="8678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D0D5C39-C675-FB7C-AD65-F624727BCAE1}"/>
              </a:ext>
            </a:extLst>
          </p:cNvPr>
          <p:cNvSpPr/>
          <p:nvPr/>
        </p:nvSpPr>
        <p:spPr>
          <a:xfrm>
            <a:off x="14591118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7A51738-BB19-4B95-1F65-7C9CEA58C325}"/>
              </a:ext>
            </a:extLst>
          </p:cNvPr>
          <p:cNvSpPr/>
          <p:nvPr/>
        </p:nvSpPr>
        <p:spPr>
          <a:xfrm>
            <a:off x="9565881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68B8EBF-485F-8B2B-38ED-72489509C44A}"/>
              </a:ext>
            </a:extLst>
          </p:cNvPr>
          <p:cNvSpPr/>
          <p:nvPr/>
        </p:nvSpPr>
        <p:spPr>
          <a:xfrm>
            <a:off x="17103737" y="9344025"/>
            <a:ext cx="1184275" cy="278765"/>
          </a:xfrm>
          <a:custGeom>
            <a:avLst/>
            <a:gdLst/>
            <a:ahLst/>
            <a:cxnLst/>
            <a:rect l="l" t="t" r="r" b="b"/>
            <a:pathLst>
              <a:path w="1184275" h="278765">
                <a:moveTo>
                  <a:pt x="1184262" y="0"/>
                </a:moveTo>
                <a:lnTo>
                  <a:pt x="0" y="0"/>
                </a:lnTo>
                <a:lnTo>
                  <a:pt x="0" y="278688"/>
                </a:lnTo>
                <a:lnTo>
                  <a:pt x="1184262" y="278688"/>
                </a:lnTo>
                <a:lnTo>
                  <a:pt x="1184262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3563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2C456-07C1-1D0E-B6C5-0E37A6CB9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77723B-C62E-3FB1-158A-B3F97FD43B60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119099A-9D30-609E-CFBF-24781C7F860F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A65596A-8F0E-ACD4-BC25-950A1365FC5D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62C283EC-1CC5-86D6-72BA-F815C544FF5A}"/>
              </a:ext>
            </a:extLst>
          </p:cNvPr>
          <p:cNvSpPr txBox="1"/>
          <p:nvPr/>
        </p:nvSpPr>
        <p:spPr>
          <a:xfrm>
            <a:off x="914400" y="992541"/>
            <a:ext cx="16687800" cy="80106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4400" b="1" u="sng" dirty="0">
                <a:latin typeface="+mn-lt"/>
              </a:rPr>
              <a:t>Typing Paradigms</a:t>
            </a: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Every programming language can be classified along two independent axes.</a:t>
            </a:r>
            <a:endParaRPr lang="en-US" sz="4000" dirty="0">
              <a:latin typeface="+mn-lt"/>
            </a:endParaRPr>
          </a:p>
          <a:p>
            <a:pPr marL="2025650" lvl="2" indent="-857250" algn="just">
              <a:lnSpc>
                <a:spcPct val="150000"/>
              </a:lnSpc>
              <a:spcAft>
                <a:spcPts val="1600"/>
              </a:spcAft>
              <a:buSzPct val="100000"/>
              <a:buFont typeface="+mj-lt"/>
              <a:buAutoNum type="romanLcPeriod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When types are checked: Static (at compile time) vs. Dynamic (at run time).</a:t>
            </a:r>
          </a:p>
          <a:p>
            <a:pPr marL="2025650" lvl="2" indent="-857250" algn="just">
              <a:lnSpc>
                <a:spcPct val="150000"/>
              </a:lnSpc>
              <a:spcAft>
                <a:spcPts val="1600"/>
              </a:spcAft>
              <a:buSzPct val="100000"/>
              <a:buFont typeface="+mj-lt"/>
              <a:buAutoNum type="romanLcPeriod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How conversions between types are handled: Strong (no implicit coercion) vs. Weak (implicit coercion allowed).</a:t>
            </a:r>
            <a:endParaRPr lang="en-US" sz="4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Python sits in a specific, important quadrant: </a:t>
            </a:r>
            <a:r>
              <a:rPr lang="en-US" sz="4000" b="1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dynamically typed</a:t>
            </a: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4000" b="1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strongly typed</a:t>
            </a: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.</a:t>
            </a:r>
            <a:endParaRPr lang="en-US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6078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4B0F0-B365-CD76-728B-D7D79682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3C4A4F5-96B9-20FB-B6D6-79C03CEC1A49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75071C6-107D-956B-7E31-EBB99D5A013A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3BB6DB4-6061-77AA-2812-86743D158FAB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DE31BE1E-97CE-D801-0CC6-FEB55F76AC93}"/>
              </a:ext>
            </a:extLst>
          </p:cNvPr>
          <p:cNvSpPr txBox="1"/>
          <p:nvPr/>
        </p:nvSpPr>
        <p:spPr>
          <a:xfrm>
            <a:off x="914400" y="992541"/>
            <a:ext cx="16687800" cy="7387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4400" b="1" u="sng" dirty="0">
                <a:latin typeface="+mn-lt"/>
              </a:rPr>
              <a:t>Static Typed</a:t>
            </a:r>
          </a:p>
          <a:p>
            <a:pPr marL="342900" indent="-342900" algn="just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Languages like C++, Java, and Rust require variable type to be declared and checked before the program runs.</a:t>
            </a:r>
            <a:endParaRPr lang="en-US" sz="4000" dirty="0">
              <a:latin typeface="+mn-lt"/>
            </a:endParaRPr>
          </a:p>
          <a:p>
            <a:pPr marL="342900" indent="-342900" algn="just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The compiler determines memory layout and allocations </a:t>
            </a:r>
            <a:r>
              <a:rPr lang="en-US" sz="4000" b="1" i="1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ahead of time (AOT)</a:t>
            </a: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, based on those declared types.</a:t>
            </a:r>
            <a:endParaRPr lang="en-US" sz="4000" dirty="0">
              <a:latin typeface="+mn-lt"/>
            </a:endParaRPr>
          </a:p>
          <a:p>
            <a:pPr marL="342900" indent="-342900" algn="just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b="1" u="sng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Benefit:</a:t>
            </a: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 many type errors are caught early, before deployment, and the compiler can produce more optimized machine code.</a:t>
            </a:r>
            <a:endParaRPr lang="en-US" sz="4000" dirty="0">
              <a:latin typeface="+mn-lt"/>
            </a:endParaRPr>
          </a:p>
          <a:p>
            <a:pPr marL="342900" indent="-342900" algn="just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b="1" u="sng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Trade-off:</a:t>
            </a: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 more verbose code, and less flexibility to rapidly reshape data structures during experimentation.</a:t>
            </a:r>
            <a:endParaRPr lang="en-US" sz="4000" dirty="0">
              <a:latin typeface="+mn-lt"/>
            </a:endParaRPr>
          </a:p>
          <a:p>
            <a:pPr marL="342900" indent="-342900" algn="just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Example:</a:t>
            </a: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 int x = 42; in C++ fixes x to the integer type for its entire lifetime.</a:t>
            </a:r>
            <a:endParaRPr lang="en-US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7936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C6CD2-FAA9-707A-DA3A-7946DB995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7A99D2C-DEE4-D0BD-518F-6FA73F4FA290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5417A94-F06A-BB35-FF55-F06F0D64A10D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A0AAA22-DC40-E1BB-885C-94C46F77254E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567E6846-BE6D-60A3-BD1D-C68E3F97284D}"/>
              </a:ext>
            </a:extLst>
          </p:cNvPr>
          <p:cNvSpPr txBox="1"/>
          <p:nvPr/>
        </p:nvSpPr>
        <p:spPr>
          <a:xfrm>
            <a:off x="914400" y="992541"/>
            <a:ext cx="16687800" cy="7387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4400" b="1" u="sng" dirty="0">
                <a:latin typeface="+mn-lt"/>
              </a:rPr>
              <a:t>Dynamic Typed</a:t>
            </a:r>
          </a:p>
          <a:p>
            <a:pPr marL="342900" indent="-342900" algn="just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a variable name is simply a label. It is a reference bound to an object living somewhere in memory.</a:t>
            </a:r>
            <a:endParaRPr lang="en-US" sz="4000" dirty="0"/>
          </a:p>
          <a:p>
            <a:pPr marL="342900" indent="-342900" algn="just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belongs to the OBJECT, not the variable name. A name can be re-bound to point to any type of object at any time.</a:t>
            </a:r>
            <a:endParaRPr lang="en-US" sz="4000" dirty="0"/>
          </a:p>
          <a:p>
            <a:pPr marL="342900" indent="-342900" algn="just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checking happens dynamically, as </a:t>
            </a:r>
            <a:r>
              <a:rPr lang="en-US" sz="40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instruction executes</a:t>
            </a:r>
            <a:r>
              <a:rPr lang="en-US" sz="4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000" dirty="0"/>
          </a:p>
          <a:p>
            <a:pPr marL="342900" indent="-342900" algn="just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extremely </a:t>
            </a:r>
            <a:r>
              <a:rPr lang="en-US" sz="40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prototyping</a:t>
            </a:r>
            <a:r>
              <a:rPr lang="en-US" sz="4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you can reshape a variable's role without touching a type declaration.</a:t>
            </a:r>
            <a:endParaRPr lang="en-US" sz="4000" dirty="0"/>
          </a:p>
          <a:p>
            <a:pPr marL="342900" indent="-342900" algn="just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cost:</a:t>
            </a:r>
            <a:r>
              <a:rPr lang="en-US" sz="4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certain classes of bugs (e.g. calling a method that does not exist on the current object) are only caught when that exact line executes.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34874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E4EAD-3DCB-A0A9-87D1-9B24C8EF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01AB69-D0DE-F2CF-6068-6BDE912B8BB1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1DEFC3B-FD91-00D9-44CD-3AAF896B02E0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2A66EF6-F18C-3B47-EF6F-891AFD623CFE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E03537A0-FB8B-5E5A-1E9C-242991BA2260}"/>
              </a:ext>
            </a:extLst>
          </p:cNvPr>
          <p:cNvSpPr txBox="1"/>
          <p:nvPr/>
        </p:nvSpPr>
        <p:spPr>
          <a:xfrm>
            <a:off x="914400" y="992541"/>
            <a:ext cx="16687800" cy="7087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4400" b="1" u="sng" dirty="0">
                <a:latin typeface="+mn-lt"/>
              </a:rPr>
              <a:t>Weak Typed</a:t>
            </a: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Weakly typed languages automatically convert (coerce) values between incompatible types when an operation is attempted.</a:t>
            </a:r>
            <a:endParaRPr lang="en-US" sz="4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JavaScript example: '5' + 5 silently evaluates to the string '55'.</a:t>
            </a:r>
            <a:endParaRPr lang="en-US" sz="4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Convenient for quick scripting, but a frequent source of subtle bugs in large codebases.</a:t>
            </a: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A hidden coercion can propagate incorrect values silently.</a:t>
            </a:r>
            <a:endParaRPr lang="en-US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5126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9D505-B5E2-19E5-20F2-2EBFE317C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703BE16-7034-8236-1F42-788B4CC1EA37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A816DF6-D167-FF19-5659-CCB729FF8DF0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0444116-895F-D1AE-19CE-8B1FB85CDA7D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D878A8CD-86F7-8205-E941-9DFEF0FB40DD}"/>
              </a:ext>
            </a:extLst>
          </p:cNvPr>
          <p:cNvSpPr txBox="1"/>
          <p:nvPr/>
        </p:nvSpPr>
        <p:spPr>
          <a:xfrm>
            <a:off x="914400" y="992541"/>
            <a:ext cx="16687800" cy="80106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4400" b="1" u="sng" dirty="0">
                <a:latin typeface="+mn-lt"/>
              </a:rPr>
              <a:t>Strong Typed</a:t>
            </a: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Python enforces type boundaries between fundamentally different types.</a:t>
            </a:r>
            <a:endParaRPr lang="en-US" sz="4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Attempting an operation between incompatible types (e.g. str + int) raises an explicit TypeError at run time rather than silently coercing.</a:t>
            </a:r>
            <a:endParaRPr lang="en-US" sz="4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This forces developers to be deliberate and explicitly convert types yourself, e.g. str(98) or int("98").</a:t>
            </a:r>
            <a:endParaRPr lang="en-US" sz="4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In AI code, this discipline prevents silent numerical corruption. </a:t>
            </a:r>
            <a:r>
              <a:rPr lang="en-US" sz="4000" b="1" dirty="0">
                <a:solidFill>
                  <a:srgbClr val="FF0000"/>
                </a:solidFill>
                <a:latin typeface="+mn-lt"/>
                <a:ea typeface="Calibri" pitchFamily="34" charset="-122"/>
                <a:cs typeface="Calibri" pitchFamily="34" charset="-120"/>
              </a:rPr>
              <a:t>Imagine a batch size accidentally becoming a string and no error being raised.</a:t>
            </a:r>
            <a:endParaRPr lang="en-US" sz="4000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4220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B4E3-B991-5636-C2C4-0E61110FD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42D7DB2-7A15-ECB6-B39A-396D748D359C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9C8AB72-BE31-A351-5734-601DE4B20EF1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7FB7BE1-B0AE-2C3B-ACA8-8554154F0492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8B9A7019-FFBB-5AC3-0BB3-E7133434C7A0}"/>
              </a:ext>
            </a:extLst>
          </p:cNvPr>
          <p:cNvSpPr txBox="1"/>
          <p:nvPr/>
        </p:nvSpPr>
        <p:spPr>
          <a:xfrm>
            <a:off x="914400" y="992541"/>
            <a:ext cx="16687800" cy="917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4400" b="1" u="sng" dirty="0">
                <a:latin typeface="+mn-lt"/>
              </a:rPr>
              <a:t>Typing Dimensions</a:t>
            </a:r>
            <a:endParaRPr lang="en-US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83FB42-AC7F-4272-780C-EC637CC67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00" y="2933700"/>
            <a:ext cx="15120000" cy="334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29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3CCC2-8470-7157-F806-F1350C823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F436730-A787-E05E-08C9-2207E642A294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E6C2F60-C342-CEAA-57E2-0B0C0EA7D6D0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725587A-2DF2-8039-0A0E-7160BD2A94DE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18479A-4795-290F-0B82-CA6D0207BF94}"/>
              </a:ext>
            </a:extLst>
          </p:cNvPr>
          <p:cNvSpPr txBox="1"/>
          <p:nvPr/>
        </p:nvSpPr>
        <p:spPr>
          <a:xfrm>
            <a:off x="914400" y="2253043"/>
            <a:ext cx="16611600" cy="3029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400" b="1" i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4400" b="1" i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at run time when you execute "Score: " + 98 in Python versus in JavaScript? Explain the underlying mechanism.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64191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4BDBA-D302-A80B-8EB3-5E051A8C0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678230E-DD3D-B517-66AC-51710E842D17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705599F-46CE-DA11-2AA5-9BB0ACA86990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BCED7EC-F217-A219-0ACF-9C9409FA65E5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6A28A7-44E4-064D-C27B-946323655CC1}"/>
              </a:ext>
            </a:extLst>
          </p:cNvPr>
          <p:cNvSpPr txBox="1"/>
          <p:nvPr/>
        </p:nvSpPr>
        <p:spPr>
          <a:xfrm>
            <a:off x="914400" y="2253043"/>
            <a:ext cx="16611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4400" b="1" i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at run time when you execute "Score: " + 98 in Python versus in JavaScript? Explain the underlying mechanism.</a:t>
            </a:r>
            <a:endParaRPr lang="en-US" sz="4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C5EAD-42D0-5E74-13E6-4F85ACBA7A3C}"/>
              </a:ext>
            </a:extLst>
          </p:cNvPr>
          <p:cNvSpPr txBox="1"/>
          <p:nvPr/>
        </p:nvSpPr>
        <p:spPr>
          <a:xfrm>
            <a:off x="914400" y="4356911"/>
            <a:ext cx="16611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4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raises a TypeError because it is strongly typed and will not automatically coerce an integer to a string during addition. JavaScript is weakly typed and performs implicit coercion, yielding the string "Score: 98".</a:t>
            </a:r>
            <a:endParaRPr lang="en-US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283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8A27-8A20-1C0F-160F-E785DD493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A880F25-148C-4B0C-6254-A2B9D152BB53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BA7771C-C1E3-4241-42FB-C5B3DBF4A856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4D6DBDF-144C-85D6-8569-74DDC43B283A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11D4040-C5F6-8116-A462-AD3CDAA66573}"/>
              </a:ext>
            </a:extLst>
          </p:cNvPr>
          <p:cNvSpPr txBox="1"/>
          <p:nvPr/>
        </p:nvSpPr>
        <p:spPr>
          <a:xfrm>
            <a:off x="505313" y="1557769"/>
            <a:ext cx="182235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Question: </a:t>
            </a:r>
          </a:p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statement accurately describes Python's typing system?</a:t>
            </a:r>
            <a:endParaRPr lang="en-US" sz="40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221BBBE5-50FD-0E98-C722-CC4A9F132529}"/>
              </a:ext>
            </a:extLst>
          </p:cNvPr>
          <p:cNvSpPr/>
          <p:nvPr/>
        </p:nvSpPr>
        <p:spPr>
          <a:xfrm>
            <a:off x="594360" y="34671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PK" sz="400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1F46BD3-8AF9-38F5-3DF0-F752EEA9A241}"/>
              </a:ext>
            </a:extLst>
          </p:cNvPr>
          <p:cNvSpPr txBox="1"/>
          <p:nvPr/>
        </p:nvSpPr>
        <p:spPr>
          <a:xfrm>
            <a:off x="594360" y="3467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E7A2139-D953-8119-93BC-F9A766ED3D48}"/>
              </a:ext>
            </a:extLst>
          </p:cNvPr>
          <p:cNvSpPr txBox="1"/>
          <p:nvPr/>
        </p:nvSpPr>
        <p:spPr>
          <a:xfrm>
            <a:off x="1234440" y="34671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Statically and weakly typed</a:t>
            </a:r>
            <a:endParaRPr lang="en-US" sz="40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F0DE6D9C-1476-AE35-20DB-2B012ADC9095}"/>
              </a:ext>
            </a:extLst>
          </p:cNvPr>
          <p:cNvSpPr/>
          <p:nvPr/>
        </p:nvSpPr>
        <p:spPr>
          <a:xfrm>
            <a:off x="594360" y="43540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8E8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PK" sz="400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CEE54AB9-205E-795B-6183-DD61A0F1FFB0}"/>
              </a:ext>
            </a:extLst>
          </p:cNvPr>
          <p:cNvSpPr txBox="1"/>
          <p:nvPr/>
        </p:nvSpPr>
        <p:spPr>
          <a:xfrm>
            <a:off x="594360" y="43540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B</a:t>
            </a:r>
            <a:endParaRPr lang="en-US" sz="40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8077F03C-746F-5FE5-43A4-C29E2082AB7F}"/>
              </a:ext>
            </a:extLst>
          </p:cNvPr>
          <p:cNvSpPr txBox="1"/>
          <p:nvPr/>
        </p:nvSpPr>
        <p:spPr>
          <a:xfrm>
            <a:off x="1234440" y="435406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Dynamically and strongly typed</a:t>
            </a:r>
            <a:endParaRPr lang="en-US" sz="40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DF36C871-670C-7577-E695-1506BD60EC94}"/>
              </a:ext>
            </a:extLst>
          </p:cNvPr>
          <p:cNvSpPr/>
          <p:nvPr/>
        </p:nvSpPr>
        <p:spPr>
          <a:xfrm>
            <a:off x="594360" y="51435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PK" sz="400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DB2224B5-380E-3E75-ADFC-688146B23823}"/>
              </a:ext>
            </a:extLst>
          </p:cNvPr>
          <p:cNvSpPr txBox="1"/>
          <p:nvPr/>
        </p:nvSpPr>
        <p:spPr>
          <a:xfrm>
            <a:off x="594360" y="5143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</a:t>
            </a:r>
            <a:endParaRPr lang="en-US" sz="40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F30CE140-599C-C8DF-A8F1-F84809406406}"/>
              </a:ext>
            </a:extLst>
          </p:cNvPr>
          <p:cNvSpPr txBox="1"/>
          <p:nvPr/>
        </p:nvSpPr>
        <p:spPr>
          <a:xfrm>
            <a:off x="1234440" y="51435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Dynamically and weakly typed</a:t>
            </a:r>
            <a:endParaRPr lang="en-US" sz="400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F38BB01F-321F-AC9D-8287-A655430FF0F3}"/>
              </a:ext>
            </a:extLst>
          </p:cNvPr>
          <p:cNvSpPr/>
          <p:nvPr/>
        </p:nvSpPr>
        <p:spPr>
          <a:xfrm>
            <a:off x="594360" y="59817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PK" sz="400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9B31EBB1-0D9A-2946-57F1-5ACA2BC23DB5}"/>
              </a:ext>
            </a:extLst>
          </p:cNvPr>
          <p:cNvSpPr txBox="1"/>
          <p:nvPr/>
        </p:nvSpPr>
        <p:spPr>
          <a:xfrm>
            <a:off x="594360" y="598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D</a:t>
            </a:r>
            <a:endParaRPr lang="en-US" sz="40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AAC2CE5B-506F-DF8C-275D-8006DC378806}"/>
              </a:ext>
            </a:extLst>
          </p:cNvPr>
          <p:cNvSpPr txBox="1"/>
          <p:nvPr/>
        </p:nvSpPr>
        <p:spPr>
          <a:xfrm>
            <a:off x="1234440" y="59817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Statically and strongly typed</a:t>
            </a:r>
            <a:endParaRPr lang="en-US" sz="400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DC78AB5C-9BFE-99DD-7A8B-CADCDB13FD02}"/>
              </a:ext>
            </a:extLst>
          </p:cNvPr>
          <p:cNvSpPr txBox="1"/>
          <p:nvPr/>
        </p:nvSpPr>
        <p:spPr>
          <a:xfrm>
            <a:off x="594360" y="7353300"/>
            <a:ext cx="170078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Answer: B  </a:t>
            </a:r>
            <a:r>
              <a:rPr lang="en-US" sz="4000" i="1" dirty="0">
                <a:solidFill>
                  <a:srgbClr val="6E6E6E"/>
                </a:solidFill>
                <a:ea typeface="Calibri" pitchFamily="34" charset="-122"/>
                <a:cs typeface="Calibri" pitchFamily="34" charset="-120"/>
              </a:rPr>
              <a:t>Python checks types at run time (dynamic) and refuses implicit coercion between incompatible types (strong).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95666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EFE35-30E8-DE15-91B2-B337786B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9FD351-C536-A920-7C5F-D280F2FA316F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3C41239-1329-F099-6D0E-F3445EA8BF39}"/>
              </a:ext>
            </a:extLst>
          </p:cNvPr>
          <p:cNvSpPr txBox="1"/>
          <p:nvPr/>
        </p:nvSpPr>
        <p:spPr>
          <a:xfrm>
            <a:off x="9617074" y="333678"/>
            <a:ext cx="348932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4D4546B-CDB4-E980-91BC-D00675958B38}"/>
              </a:ext>
            </a:extLst>
          </p:cNvPr>
          <p:cNvSpPr txBox="1"/>
          <p:nvPr/>
        </p:nvSpPr>
        <p:spPr>
          <a:xfrm>
            <a:off x="16100480" y="333863"/>
            <a:ext cx="1730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06BA08C-3109-DEF9-2454-C944A53770DE}"/>
              </a:ext>
            </a:extLst>
          </p:cNvPr>
          <p:cNvSpPr txBox="1"/>
          <p:nvPr/>
        </p:nvSpPr>
        <p:spPr>
          <a:xfrm>
            <a:off x="7391401" y="7043811"/>
            <a:ext cx="10363200" cy="2026772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44"/>
              </a:spcBef>
            </a:pPr>
            <a:r>
              <a:rPr lang="en-US" sz="9600" b="1" spc="655" dirty="0">
                <a:latin typeface="+mn-lt"/>
                <a:cs typeface="Century Gothic"/>
              </a:rPr>
              <a:t>Execution Engine and Interfaces</a:t>
            </a:r>
            <a:endParaRPr sz="9600" b="1" dirty="0">
              <a:latin typeface="+mn-lt"/>
              <a:cs typeface="Century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2620D21-419B-31AD-B8E5-68E5EB8CDDBD}"/>
              </a:ext>
            </a:extLst>
          </p:cNvPr>
          <p:cNvSpPr txBox="1"/>
          <p:nvPr/>
        </p:nvSpPr>
        <p:spPr>
          <a:xfrm>
            <a:off x="899140" y="6778545"/>
            <a:ext cx="156210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620" dirty="0">
                <a:latin typeface="+mn-lt"/>
                <a:cs typeface="Century Gothic"/>
              </a:rPr>
              <a:t>0</a:t>
            </a:r>
            <a:r>
              <a:rPr lang="en-US" sz="10000" spc="-620" dirty="0">
                <a:latin typeface="+mn-lt"/>
                <a:cs typeface="Century Gothic"/>
              </a:rPr>
              <a:t>3</a:t>
            </a:r>
            <a:r>
              <a:rPr sz="10000" spc="-620" dirty="0">
                <a:latin typeface="+mn-lt"/>
                <a:cs typeface="Century Gothic"/>
              </a:rPr>
              <a:t>.</a:t>
            </a:r>
            <a:endParaRPr sz="10000" dirty="0">
              <a:latin typeface="+mn-lt"/>
              <a:cs typeface="Century 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F24B72B-EC0C-529C-7C7F-5C29A42FA78E}"/>
              </a:ext>
            </a:extLst>
          </p:cNvPr>
          <p:cNvSpPr/>
          <p:nvPr/>
        </p:nvSpPr>
        <p:spPr>
          <a:xfrm>
            <a:off x="0" y="9353550"/>
            <a:ext cx="8678545" cy="269240"/>
          </a:xfrm>
          <a:custGeom>
            <a:avLst/>
            <a:gdLst/>
            <a:ahLst/>
            <a:cxnLst/>
            <a:rect l="l" t="t" r="r" b="b"/>
            <a:pathLst>
              <a:path w="8678545" h="269240">
                <a:moveTo>
                  <a:pt x="8678430" y="0"/>
                </a:moveTo>
                <a:lnTo>
                  <a:pt x="0" y="0"/>
                </a:lnTo>
                <a:lnTo>
                  <a:pt x="0" y="269163"/>
                </a:lnTo>
                <a:lnTo>
                  <a:pt x="8678430" y="269163"/>
                </a:lnTo>
                <a:lnTo>
                  <a:pt x="8678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EDABE8B-6BB6-AAA8-A64F-F63CBD059736}"/>
              </a:ext>
            </a:extLst>
          </p:cNvPr>
          <p:cNvSpPr/>
          <p:nvPr/>
        </p:nvSpPr>
        <p:spPr>
          <a:xfrm>
            <a:off x="14591118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7D34619-FFD0-690B-EBEC-0B13C303E9CE}"/>
              </a:ext>
            </a:extLst>
          </p:cNvPr>
          <p:cNvSpPr/>
          <p:nvPr/>
        </p:nvSpPr>
        <p:spPr>
          <a:xfrm>
            <a:off x="9565881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19FE42F-1A44-45B9-5CAB-5E66F9DEAFCB}"/>
              </a:ext>
            </a:extLst>
          </p:cNvPr>
          <p:cNvSpPr/>
          <p:nvPr/>
        </p:nvSpPr>
        <p:spPr>
          <a:xfrm>
            <a:off x="17103737" y="9344025"/>
            <a:ext cx="1184275" cy="278765"/>
          </a:xfrm>
          <a:custGeom>
            <a:avLst/>
            <a:gdLst/>
            <a:ahLst/>
            <a:cxnLst/>
            <a:rect l="l" t="t" r="r" b="b"/>
            <a:pathLst>
              <a:path w="1184275" h="278765">
                <a:moveTo>
                  <a:pt x="1184262" y="0"/>
                </a:moveTo>
                <a:lnTo>
                  <a:pt x="0" y="0"/>
                </a:lnTo>
                <a:lnTo>
                  <a:pt x="0" y="278688"/>
                </a:lnTo>
                <a:lnTo>
                  <a:pt x="1184262" y="278688"/>
                </a:lnTo>
                <a:lnTo>
                  <a:pt x="1184262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0462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9D9E8-EB92-FA4D-A338-6259D7438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39C1130-74BC-39D5-3DD4-47627CF7E5DF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58A3F55-8CC6-7B5A-882C-E9BD84A3C0A1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99298F1-6183-F25E-C00B-6CCACB2E73F3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6C5E8379-B6A8-65B3-0F5C-0B15701F2EC0}"/>
              </a:ext>
            </a:extLst>
          </p:cNvPr>
          <p:cNvSpPr txBox="1"/>
          <p:nvPr/>
        </p:nvSpPr>
        <p:spPr>
          <a:xfrm>
            <a:off x="914400" y="992541"/>
            <a:ext cx="16687800" cy="38883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4400" b="1" u="sng" dirty="0">
                <a:latin typeface="+mn-lt"/>
              </a:rPr>
              <a:t>Execution Engine</a:t>
            </a: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Every Python program needs an execution engine to run.</a:t>
            </a:r>
            <a:endParaRPr lang="en-US" sz="4000" dirty="0"/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b="1" u="sng" dirty="0" err="1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CPython</a:t>
            </a:r>
            <a:r>
              <a:rPr lang="en-US" sz="4000" b="1" u="sng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 Interpreter:</a:t>
            </a:r>
            <a:r>
              <a:rPr lang="en-US" sz="4000" dirty="0">
                <a:solidFill>
                  <a:srgbClr val="2E2E2E"/>
                </a:solidFill>
                <a:ea typeface="Calibri" pitchFamily="34" charset="-122"/>
                <a:cs typeface="Calibri" pitchFamily="34" charset="-120"/>
              </a:rPr>
              <a:t> It reads source code, compiles it to bytecode, and executes that bytecode on a virtual machine.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61503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29228-B3D3-A3A5-FD9E-ECBFE354C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682F236-89D6-5AA7-DA2C-18A41BEEB757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D0A01DF-77A7-290D-0755-25826EE473C5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A5CDDEC-1C6B-5C57-6ACD-1C65508328F8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46E0C473-6A6E-E4ED-D4A9-1A8FA22F6CA4}"/>
              </a:ext>
            </a:extLst>
          </p:cNvPr>
          <p:cNvSpPr txBox="1"/>
          <p:nvPr/>
        </p:nvSpPr>
        <p:spPr>
          <a:xfrm>
            <a:off x="914400" y="992541"/>
            <a:ext cx="16687800" cy="89153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4400" b="1" u="sng" dirty="0" err="1">
                <a:latin typeface="+mn-lt"/>
              </a:rPr>
              <a:t>CPython</a:t>
            </a:r>
            <a:r>
              <a:rPr lang="en-US" sz="4400" b="1" u="sng" dirty="0">
                <a:latin typeface="+mn-lt"/>
              </a:rPr>
              <a:t> Interpreter</a:t>
            </a:r>
          </a:p>
          <a:p>
            <a:pPr marL="742950" marR="0" lvl="0" indent="-742950" algn="just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PK" sz="4000" b="1" u="none" strike="noStrike" dirty="0">
                <a:effectLst/>
                <a:latin typeface="+mn-lt"/>
              </a:rPr>
              <a:t>Parsing:</a:t>
            </a:r>
            <a:r>
              <a:rPr lang="en-PK" sz="4000" b="0" u="none" strike="noStrike" dirty="0">
                <a:effectLst/>
                <a:latin typeface="+mn-lt"/>
              </a:rPr>
              <a:t> It reads your .</a:t>
            </a:r>
            <a:r>
              <a:rPr lang="en-PK" sz="4000" b="0" u="none" strike="noStrike" dirty="0" err="1">
                <a:effectLst/>
                <a:latin typeface="+mn-lt"/>
              </a:rPr>
              <a:t>py</a:t>
            </a:r>
            <a:r>
              <a:rPr lang="en-PK" sz="4000" b="0" u="none" strike="noStrike" dirty="0">
                <a:effectLst/>
                <a:latin typeface="+mn-lt"/>
              </a:rPr>
              <a:t> source file and checks for syntax errors, converting the text into an Abstract Syntax Tree (AST).</a:t>
            </a:r>
          </a:p>
          <a:p>
            <a:pPr marL="717550" marR="0" lvl="0" indent="-717550" algn="just">
              <a:spcBef>
                <a:spcPts val="900"/>
              </a:spcBef>
              <a:spcAft>
                <a:spcPts val="900"/>
              </a:spcAft>
            </a:pPr>
            <a:r>
              <a:rPr lang="en-US" sz="4000" b="1" u="none" strike="noStrike" dirty="0">
                <a:effectLst/>
                <a:latin typeface="+mn-lt"/>
              </a:rPr>
              <a:t>2.   </a:t>
            </a:r>
            <a:r>
              <a:rPr lang="en-PK" sz="4000" b="1" u="none" strike="noStrike" dirty="0">
                <a:effectLst/>
                <a:latin typeface="+mn-lt"/>
              </a:rPr>
              <a:t>Compiling to Bytecode:</a:t>
            </a:r>
            <a:r>
              <a:rPr lang="en-PK" sz="4000" b="0" u="none" strike="noStrike" dirty="0">
                <a:effectLst/>
                <a:latin typeface="+mn-lt"/>
              </a:rPr>
              <a:t> The compiler component of </a:t>
            </a:r>
            <a:r>
              <a:rPr lang="en-PK" sz="4000" b="0" u="none" strike="noStrike" dirty="0" err="1">
                <a:effectLst/>
                <a:latin typeface="+mn-lt"/>
              </a:rPr>
              <a:t>CPython</a:t>
            </a:r>
            <a:r>
              <a:rPr lang="en-PK" sz="4000" b="0" u="none" strike="noStrike" dirty="0">
                <a:effectLst/>
                <a:latin typeface="+mn-lt"/>
              </a:rPr>
              <a:t> translates the AST into a low-level, platform-independent instruction set called </a:t>
            </a:r>
            <a:r>
              <a:rPr lang="en-PK" sz="4000" b="1" u="none" strike="noStrike" dirty="0">
                <a:effectLst/>
                <a:latin typeface="+mn-lt"/>
              </a:rPr>
              <a:t>bytecode</a:t>
            </a:r>
            <a:r>
              <a:rPr lang="en-PK" sz="4000" b="0" u="none" strike="noStrike" dirty="0">
                <a:effectLst/>
                <a:latin typeface="+mn-lt"/>
              </a:rPr>
              <a:t>.</a:t>
            </a:r>
          </a:p>
          <a:p>
            <a:pPr marL="742950" marR="0" lvl="0" indent="-742950" algn="just">
              <a:spcBef>
                <a:spcPts val="900"/>
              </a:spcBef>
              <a:spcAft>
                <a:spcPts val="900"/>
              </a:spcAft>
              <a:buAutoNum type="arabicPeriod" startAt="3"/>
            </a:pPr>
            <a:r>
              <a:rPr lang="en-PK" sz="4000" b="1" u="none" strike="noStrike" dirty="0">
                <a:effectLst/>
                <a:latin typeface="+mn-lt"/>
              </a:rPr>
              <a:t>Caching (.</a:t>
            </a:r>
            <a:r>
              <a:rPr lang="en-PK" sz="4000" b="1" u="none" strike="noStrike" dirty="0" err="1">
                <a:effectLst/>
                <a:latin typeface="+mn-lt"/>
              </a:rPr>
              <a:t>pyc</a:t>
            </a:r>
            <a:r>
              <a:rPr lang="en-PK" sz="4000" b="1" u="none" strike="noStrike" dirty="0">
                <a:effectLst/>
                <a:latin typeface="+mn-lt"/>
              </a:rPr>
              <a:t>):</a:t>
            </a:r>
            <a:r>
              <a:rPr lang="en-PK" sz="4000" b="0" u="none" strike="noStrike" dirty="0">
                <a:effectLst/>
                <a:latin typeface="+mn-lt"/>
              </a:rPr>
              <a:t> To speed up future runs, </a:t>
            </a:r>
            <a:r>
              <a:rPr lang="en-PK" sz="4000" b="0" u="none" strike="noStrike" dirty="0" err="1">
                <a:effectLst/>
                <a:latin typeface="+mn-lt"/>
              </a:rPr>
              <a:t>CPython</a:t>
            </a:r>
            <a:r>
              <a:rPr lang="en-PK" sz="4000" b="0" u="none" strike="noStrike" dirty="0">
                <a:effectLst/>
                <a:latin typeface="+mn-lt"/>
              </a:rPr>
              <a:t> writes this bytecode to disk </a:t>
            </a:r>
            <a:r>
              <a:rPr lang="en-US" sz="4000" b="0" u="none" strike="noStrike" dirty="0">
                <a:effectLst/>
                <a:latin typeface="+mn-lt"/>
              </a:rPr>
              <a:t> </a:t>
            </a:r>
            <a:r>
              <a:rPr lang="en-PK" sz="4000" b="0" u="none" strike="noStrike" dirty="0">
                <a:effectLst/>
                <a:latin typeface="+mn-lt"/>
              </a:rPr>
              <a:t>inside a __</a:t>
            </a:r>
            <a:r>
              <a:rPr lang="en-PK" sz="4000" b="0" u="none" strike="noStrike" dirty="0" err="1">
                <a:effectLst/>
                <a:latin typeface="+mn-lt"/>
              </a:rPr>
              <a:t>pycache</a:t>
            </a:r>
            <a:r>
              <a:rPr lang="en-PK" sz="4000" b="0" u="none" strike="noStrike" dirty="0">
                <a:effectLst/>
                <a:latin typeface="+mn-lt"/>
              </a:rPr>
              <a:t>__ directory as a .</a:t>
            </a:r>
            <a:r>
              <a:rPr lang="en-PK" sz="4000" b="0" u="none" strike="noStrike" dirty="0" err="1">
                <a:effectLst/>
                <a:latin typeface="+mn-lt"/>
              </a:rPr>
              <a:t>pyc</a:t>
            </a:r>
            <a:r>
              <a:rPr lang="en-PK" sz="4000" b="0" u="none" strike="noStrike" dirty="0">
                <a:effectLst/>
                <a:latin typeface="+mn-lt"/>
              </a:rPr>
              <a:t> file. If the source file hasn't changed on the next run, Python skips steps 1 and 2 entirely.</a:t>
            </a:r>
            <a:endParaRPr lang="en-US" sz="4000" b="0" u="none" strike="noStrike" dirty="0">
              <a:effectLst/>
              <a:latin typeface="+mn-lt"/>
            </a:endParaRPr>
          </a:p>
          <a:p>
            <a:pPr marL="742950" marR="0" lvl="0" indent="-742950" algn="just">
              <a:spcBef>
                <a:spcPts val="900"/>
              </a:spcBef>
              <a:spcAft>
                <a:spcPts val="900"/>
              </a:spcAft>
              <a:buAutoNum type="arabicPeriod" startAt="3"/>
            </a:pPr>
            <a:r>
              <a:rPr lang="en-PK" sz="4000" b="1" u="none" strike="noStrike" dirty="0">
                <a:effectLst/>
                <a:latin typeface="+mn-lt"/>
              </a:rPr>
              <a:t>Virtual Machine Execution:</a:t>
            </a:r>
            <a:r>
              <a:rPr lang="en-PK" sz="4000" b="0" u="none" strike="noStrike" dirty="0">
                <a:effectLst/>
                <a:latin typeface="+mn-lt"/>
              </a:rPr>
              <a:t> The </a:t>
            </a:r>
            <a:r>
              <a:rPr lang="en-PK" sz="4000" b="1" u="none" strike="noStrike" dirty="0" err="1">
                <a:effectLst/>
                <a:latin typeface="+mn-lt"/>
              </a:rPr>
              <a:t>CPython</a:t>
            </a:r>
            <a:r>
              <a:rPr lang="en-PK" sz="4000" b="1" u="none" strike="noStrike" dirty="0">
                <a:effectLst/>
                <a:latin typeface="+mn-lt"/>
              </a:rPr>
              <a:t> Virtual Machine (PVM)</a:t>
            </a:r>
            <a:r>
              <a:rPr lang="en-PK" sz="4000" b="0" u="none" strike="noStrike" dirty="0">
                <a:effectLst/>
                <a:latin typeface="+mn-lt"/>
              </a:rPr>
              <a:t> loops through the bytecode instructions, evaluates them, and interacts with your system hardware to execute the program.</a:t>
            </a: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48521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F553C-4AC1-31B5-35C7-82C571BEA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ABCBC7C-7359-1091-6B89-AA6F9B424E6E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7685771-B87C-A24A-DC50-28C3BD9F2E82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A52C962-ED73-9B3B-BC04-333C60AC92D5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F98EFC51-1AF9-4AAB-0236-DD0077B0B822}"/>
              </a:ext>
            </a:extLst>
          </p:cNvPr>
          <p:cNvSpPr txBox="1"/>
          <p:nvPr/>
        </p:nvSpPr>
        <p:spPr>
          <a:xfrm>
            <a:off x="914400" y="992541"/>
            <a:ext cx="16687800" cy="6882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4400" b="1" u="sng" dirty="0">
                <a:latin typeface="+mn-lt"/>
              </a:rPr>
              <a:t>Interfaces</a:t>
            </a: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b="1" u="sng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REPL (Read-Eval-Print Loop):</a:t>
            </a: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 an interactive shell that executes one statement at a time and immediately shows results.</a:t>
            </a:r>
            <a:endParaRPr lang="en-US" sz="4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b="1" u="sng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Scripting: </a:t>
            </a: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running a complete .</a:t>
            </a:r>
            <a:r>
              <a:rPr lang="en-US" sz="4000" dirty="0" err="1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py</a:t>
            </a: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 file from the command line, top to bottom, in one process.</a:t>
            </a:r>
            <a:endParaRPr lang="en-US" sz="4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b="1" u="sng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Notebook environments (</a:t>
            </a:r>
            <a:r>
              <a:rPr lang="en-US" sz="4000" b="1" u="sng" dirty="0" err="1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IPython</a:t>
            </a:r>
            <a:r>
              <a:rPr lang="en-US" sz="4000" b="1" u="sng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, Jupyter): </a:t>
            </a:r>
            <a:r>
              <a:rPr lang="en-US" sz="4000" dirty="0">
                <a:solidFill>
                  <a:srgbClr val="2E2E2E"/>
                </a:solidFill>
                <a:latin typeface="+mn-lt"/>
                <a:ea typeface="Calibri" pitchFamily="34" charset="-122"/>
                <a:cs typeface="Calibri" pitchFamily="34" charset="-120"/>
              </a:rPr>
              <a:t>cell-based, interactive execution popular for AI experimentation.</a:t>
            </a:r>
            <a:endParaRPr lang="en-US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38978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353550"/>
            <a:ext cx="8684895" cy="269240"/>
          </a:xfrm>
          <a:custGeom>
            <a:avLst/>
            <a:gdLst/>
            <a:ahLst/>
            <a:cxnLst/>
            <a:rect l="l" t="t" r="r" b="b"/>
            <a:pathLst>
              <a:path w="8684895" h="269240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597495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72243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10099" y="9344025"/>
            <a:ext cx="1177925" cy="278765"/>
          </a:xfrm>
          <a:custGeom>
            <a:avLst/>
            <a:gdLst/>
            <a:ahLst/>
            <a:cxnLst/>
            <a:rect l="l" t="t" r="r" b="b"/>
            <a:pathLst>
              <a:path w="1177925" h="27876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617074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Programming for AI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100480" y="333863"/>
            <a:ext cx="1730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Fall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17075" y="4490471"/>
            <a:ext cx="5741670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0" b="1" spc="-25" dirty="0">
                <a:latin typeface="Lucida Sans"/>
                <a:cs typeface="Lucida Sans"/>
              </a:rPr>
              <a:t>Thank</a:t>
            </a:r>
            <a:endParaRPr sz="1400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17075" y="6144011"/>
            <a:ext cx="3945890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0" b="1" spc="-735" dirty="0">
                <a:latin typeface="Lucida Sans"/>
                <a:cs typeface="Lucida Sans"/>
              </a:rPr>
              <a:t>Y</a:t>
            </a:r>
            <a:r>
              <a:rPr sz="14000" b="1" spc="140" dirty="0">
                <a:latin typeface="Lucida Sans"/>
                <a:cs typeface="Lucida Sans"/>
              </a:rPr>
              <a:t>ou!</a:t>
            </a:r>
            <a:endParaRPr sz="1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1615</TotalTime>
  <Words>1384</Words>
  <Application>Microsoft Office PowerPoint</Application>
  <PresentationFormat>Custom</PresentationFormat>
  <Paragraphs>180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</vt:lpstr>
      <vt:lpstr>Century</vt:lpstr>
      <vt:lpstr>Century Gothic</vt:lpstr>
      <vt:lpstr>Lucida Sans</vt:lpstr>
      <vt:lpstr>Office Theme</vt:lpstr>
      <vt:lpstr>Programming for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Shaban Satti</dc:creator>
  <cp:lastModifiedBy>Shaban Ghias Satti</cp:lastModifiedBy>
  <cp:revision>435</cp:revision>
  <dcterms:created xsi:type="dcterms:W3CDTF">2026-01-16T17:54:24Z</dcterms:created>
  <dcterms:modified xsi:type="dcterms:W3CDTF">2026-09-14T09:27:36Z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2026-01-16T00:00:00Z</vt:filetime>
  </property>
  <property fmtid="{D5CDD505-2E9C-101B-9397-08002B2CF9AE}" pid="3" name="CreationClient">
    <vt:lpwstr>authoring</vt:lpwstr>
  </property>
  <property fmtid="{D5CDD505-2E9C-101B-9397-08002B2CF9AE}" pid="4" name="Creator">
    <vt:lpwstr>Adobe Express</vt:lpwstr>
  </property>
  <property fmtid="{D5CDD505-2E9C-101B-9397-08002B2CF9AE}" pid="5" name="LastSaved">
    <vt:filetime>2026-01-16T00:00:00Z</vt:filetime>
  </property>
  <property fmtid="{D5CDD505-2E9C-101B-9397-08002B2CF9AE}" pid="6" name="Producer">
    <vt:lpwstr>Adobe Express</vt:lpwstr>
  </property>
</Properties>
</file>